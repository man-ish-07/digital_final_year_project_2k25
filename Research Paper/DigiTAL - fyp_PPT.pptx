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modernComment_10A_7DA52525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5" r:id="rId1"/>
  </p:sldMasterIdLst>
  <p:notesMasterIdLst>
    <p:notesMasterId r:id="rId14"/>
  </p:notesMasterIdLst>
  <p:handoutMasterIdLst>
    <p:handoutMasterId r:id="rId15"/>
  </p:handoutMasterIdLst>
  <p:sldIdLst>
    <p:sldId id="256" r:id="rId2"/>
    <p:sldId id="270" r:id="rId3"/>
    <p:sldId id="257" r:id="rId4"/>
    <p:sldId id="263" r:id="rId5"/>
    <p:sldId id="258" r:id="rId6"/>
    <p:sldId id="264" r:id="rId7"/>
    <p:sldId id="271" r:id="rId8"/>
    <p:sldId id="272" r:id="rId9"/>
    <p:sldId id="266" r:id="rId10"/>
    <p:sldId id="269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5582667-6102-27E7-ED8E-01A166EB4B6B}" name="Guest User" initials="GU" userId="Guest User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omments/modernComment_10A_7DA5252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90C795D-6D2E-42B9-9C9A-DE3B02DCD1C5}" authorId="{95582667-6102-27E7-ED8E-01A166EB4B6B}" created="2024-08-23T09:17:35.862">
    <pc:sldMkLst xmlns:pc="http://schemas.microsoft.com/office/powerpoint/2013/main/command">
      <pc:docMk/>
      <pc:sldMk cId="2107974949" sldId="266"/>
    </pc:sldMkLst>
    <p188:txBody>
      <a:bodyPr/>
      <a:lstStyle/>
      <a:p>
        <a:r>
          <a:rPr lang="en-US"/>
          <a:t>Advantages :
Global coverage: Balloons could be deployed worldwide to reach underserved areas.
Rapid deployment: Balloons could be quickly deployed in response to disasters or emergencies.
Cost-effective: Balloons could offer internet access at a lower cost than traditional infrastructure.
Flexible: Balloons could be moved to different locations as needed.</a:t>
        </a:r>
      </a:p>
    </p188:txBody>
  </p188:cm>
  <p188:cm id="{93927D44-52F1-46D1-8A49-F157CBF6AED3}" authorId="{95582667-6102-27E7-ED8E-01A166EB4B6B}" created="2024-08-23T09:24:20.714">
    <pc:sldMkLst xmlns:pc="http://schemas.microsoft.com/office/powerpoint/2013/main/command">
      <pc:docMk/>
      <pc:sldMk cId="2107974949" sldId="266"/>
    </pc:sldMkLst>
    <p188:txBody>
      <a:bodyPr/>
      <a:lstStyle/>
      <a:p>
        <a:r>
          <a:rPr lang="en-US"/>
          <a:t>limitation : 
Weather Dependence: Balloons were vulnerable to weather conditions, particularly storms and high winds, which could disrupt connectivity.
High Costs: The project involved significant investments in hardware, infrastructure, and maintenance, making it economically challenging to scale.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28672D1-458E-AB6B-85E6-EE53B89BCFD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ECD4F2-9E92-1819-7CEF-5DB1E601A06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19E2C7-034F-4C53-9145-2E2C89EF42D6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76143A-3D18-6F00-6206-CFABE00E629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Sipna C.O.E.T. Amravati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373838-45DB-85A3-19C1-D4509E0EAB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4CA2A8-6E03-4C22-A302-B47ADF3B9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14298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AD366C-FD16-439B-AA3E-73F160C30C8F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Sipna C.O.E.T. Amravati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C614D6-E3F7-4ABA-878F-BE8848B66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92286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6050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8E2F9-C195-AEAB-AD42-1D080F1E1A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6488D0-BC54-ADEA-7533-718A1CA49E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3F91C2-9792-BF3C-CB94-80B8604D8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58380-8FC0-497F-908C-7165C45E1DCA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AAFB2-CCF8-7B25-8AE4-E668DE764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Sipna C.O.E.T. Amravati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555D5-0D12-81D8-9BF2-FB4361CC2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41BA-5EAB-4868-8B9F-2DCA7FC0E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81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2C898-4632-079B-3DF4-9DB69B804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E36CF-C4D6-275D-6291-3AC9A226D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A9400-9504-EECA-B253-C4F4379AC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E81CA-46E8-41CF-80B2-A5ABC2104BE8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945D3A-52CB-C802-4193-36ACBD5BC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Sipna C.O.E.T. Amravati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9CD7D9-C259-5A82-E2F2-6D66EE2CA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41BA-5EAB-4868-8B9F-2DCA7FC0E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890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4FB82-CD84-B8B1-B167-ED6FA8369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D7F543-BA5D-BF46-24AA-5864BFD79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84263-11F0-1181-1B42-1B905C3E1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6DEA-737B-41E1-B882-0AAED96DE189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A14BF-BF61-4D94-94D7-FCAB88484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Sipna C.O.E.T. Amravati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AF322-9DB0-531B-14A9-2F30B9786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41BA-5EAB-4868-8B9F-2DCA7FC0E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185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96D61-B169-61F7-1F70-28719F2C4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554BF-5D91-2D22-8A53-C8D0BDB494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2710B0-AFCF-731F-25AA-CA0DA934A5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82C846-1181-AC7B-2DEF-3F697AE32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8E733-2EFF-4CC5-B4FC-E7202AF7E049}" type="datetime1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A39FD7-CAA4-FD96-75B7-86DEBA217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Sipna C.O.E.T. Amravati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E43840-5B5E-79E6-3DA6-454A262E0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41BA-5EAB-4868-8B9F-2DCA7FC0E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997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E722F-785D-9FAA-37E4-0AA6473AE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3E4756-480F-F092-62E0-F81A9E112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46E9B2-AAD1-96FA-6177-0108321BB1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60ACEE-E57A-B218-6B07-669B09A121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C90343-5004-680F-791D-0B4D5C730B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677ABE-4675-ED9E-F423-58E58A214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078F5-1464-4809-A2E3-53EA7723DFF9}" type="datetime1">
              <a:rPr lang="en-US" smtClean="0"/>
              <a:t>5/1/2025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D39573-16DA-BA46-A20B-273D7603A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Sipna C.O.E.T. Amravati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217633-7261-6C4A-DEE1-062F7FE30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41BA-5EAB-4868-8B9F-2DCA7FC0E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670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0DF68-8A81-8E41-4651-985E61406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FCBDEF-F6F3-C01C-F506-6E0CCD79E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6CBE7-A622-4AFA-8002-4547BF11BF81}" type="datetime1">
              <a:rPr lang="en-US" smtClean="0"/>
              <a:t>5/1/2025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51E1F4-75D7-1A7C-E8CD-CE9CF2FC0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Sipna C.O.E.T. Amravati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566165-465F-B254-858D-6F8D17210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41BA-5EAB-4868-8B9F-2DCA7FC0E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97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DAAB44-FF4F-1B18-2EC7-76F40E362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4326-40EB-4B4C-9087-9F1DB0FB66FC}" type="datetime1">
              <a:rPr lang="en-US" smtClean="0"/>
              <a:t>5/1/2025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47BC41-EB2C-D18C-96B5-BC7F0D46E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Sipna C.O.E.T. Amravati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67066-FD74-C36D-50C7-2CF657931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41BA-5EAB-4868-8B9F-2DCA7FC0E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035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9350B-C7A3-C1CA-6512-81D18ADC4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CA969-8B30-4065-2109-A9040CF2F2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DB462C-04BA-F01B-7314-E5AA56A71A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06708D-9AC9-3FD3-269D-FA42E2992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26FFF-AE70-4909-A4F9-69554920A6E1}" type="datetime1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C9F5F-BC75-402C-2EAE-80135A3E8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Sipna C.O.E.T. Amravati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6C4727-3E18-0EE5-2AC9-CA74F4CC7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41BA-5EAB-4868-8B9F-2DCA7FC0E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977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10901-58A4-FFBE-4D3A-4A6EB51AD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B57117-B99E-FFF9-4CB4-D9D6D3452B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DFE2F0-A33F-38D6-943B-43631898E0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DBB4DE-1DEC-9592-E6AA-176E573F4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3D88E-907B-4D68-9CE5-C6594CE944E0}" type="datetime1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3B2515-243C-C5B6-FFA3-923C4F8B2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Sipna C.O.E.T. Amravati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AC4769-F67A-C2FF-DCB1-CEFA8ED21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41BA-5EAB-4868-8B9F-2DCA7FC0E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660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61552-B447-4804-2920-F67B5DAB4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38C183-C948-23A0-D23D-88D2743978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6FCCF-2174-E225-6479-F8FE42953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83EA0-81E4-4300-9951-27619805F26B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E7D44-8010-4D4E-3CD8-F777A3EAD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Sipna C.O.E.T. Amravati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F737A-8803-2716-071F-5B0392D76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41BA-5EAB-4868-8B9F-2DCA7FC0E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242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46846F-DE8C-DB31-F3F6-A173B44B8D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65205E-FBCC-DAEB-6F8A-72BFEDF3F6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E83C7-9ECE-A0C8-B215-1CC4DFE29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D1D7B-C9EC-48E2-8B30-A17D87ED879B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CB5EB-02C4-C4BB-DB67-B6B95A9A7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Sipna C.O.E.T. Amravati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9E9BC-8CC6-1649-EC4F-BBFC4A295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41BA-5EAB-4868-8B9F-2DCA7FC0E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381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D2A147-5A7E-BC94-0D15-A3E197731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748D48-3461-3243-037D-30BE55162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732244-B5C6-8B03-0542-0E2BD0CE4A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104C0F-5C31-4E47-AC1F-D80A3C00C019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0B023-BCFA-F7AB-669E-44D07A7B1E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Sipna C.O.E.T. Amravati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AC928-1DC3-96B0-C833-6E969FA9EA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3041BA-5EAB-4868-8B9F-2DCA7FC0E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406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A_7DA5252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4346928C-8CA1-EA5F-D5B1-55D57B0F55C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067"/>
          <a:stretch/>
        </p:blipFill>
        <p:spPr>
          <a:xfrm>
            <a:off x="404734" y="149902"/>
            <a:ext cx="1573969" cy="1568814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35D5C68-0CF2-F58D-B208-CE9843CADEA7}"/>
              </a:ext>
            </a:extLst>
          </p:cNvPr>
          <p:cNvCxnSpPr>
            <a:cxnSpLocks/>
          </p:cNvCxnSpPr>
          <p:nvPr/>
        </p:nvCxnSpPr>
        <p:spPr>
          <a:xfrm>
            <a:off x="584614" y="2038660"/>
            <a:ext cx="1085287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70FCCEE-EBB1-C0B0-40E5-4755852853AA}"/>
              </a:ext>
            </a:extLst>
          </p:cNvPr>
          <p:cNvSpPr txBox="1"/>
          <p:nvPr/>
        </p:nvSpPr>
        <p:spPr>
          <a:xfrm>
            <a:off x="264826" y="2372329"/>
            <a:ext cx="116623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Bookman Old Style" panose="02050604050505020204" pitchFamily="18" charset="0"/>
              </a:rPr>
              <a:t>Enhancing Hospital Efficiency with AI-Driven Automation and Blockchain-Backed Data Management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1A32A34-0AEE-F11C-4C68-11C81DFBB6A9}"/>
              </a:ext>
            </a:extLst>
          </p:cNvPr>
          <p:cNvCxnSpPr>
            <a:cxnSpLocks/>
          </p:cNvCxnSpPr>
          <p:nvPr/>
        </p:nvCxnSpPr>
        <p:spPr>
          <a:xfrm>
            <a:off x="587114" y="3660104"/>
            <a:ext cx="1085287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07AEA5C-F64E-37DF-9B65-693691C8CA30}"/>
              </a:ext>
            </a:extLst>
          </p:cNvPr>
          <p:cNvSpPr txBox="1"/>
          <p:nvPr/>
        </p:nvSpPr>
        <p:spPr>
          <a:xfrm>
            <a:off x="264826" y="3705665"/>
            <a:ext cx="3371436" cy="285373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latin typeface="Bookman Old Style" panose="02050604050505020204" pitchFamily="18" charset="0"/>
              </a:rPr>
              <a:t>Presented By : </a:t>
            </a:r>
          </a:p>
          <a:p>
            <a:pPr marL="457200" indent="-457200">
              <a:lnSpc>
                <a:spcPct val="150000"/>
              </a:lnSpc>
              <a:buFontTx/>
              <a:buAutoNum type="arabicPeriod"/>
            </a:pPr>
            <a:r>
              <a:rPr lang="en-US" sz="2000" b="1" dirty="0">
                <a:latin typeface="Bookman Old Style" panose="02050604050505020204" pitchFamily="18" charset="0"/>
              </a:rPr>
              <a:t>Anushka P. Tayade</a:t>
            </a:r>
            <a:endParaRPr lang="en-US" sz="1800" b="1" dirty="0">
              <a:latin typeface="Bookman Old Style"/>
            </a:endParaRPr>
          </a:p>
          <a:p>
            <a:pPr marL="457200" indent="-457200">
              <a:lnSpc>
                <a:spcPct val="150000"/>
              </a:lnSpc>
              <a:buFontTx/>
              <a:buAutoNum type="arabicPeriod"/>
            </a:pPr>
            <a:r>
              <a:rPr lang="en-US" sz="2000" b="1" dirty="0">
                <a:latin typeface="Bookman Old Style" panose="02050604050505020204" pitchFamily="18" charset="0"/>
              </a:rPr>
              <a:t>Prachi P. </a:t>
            </a:r>
            <a:r>
              <a:rPr lang="en-US" sz="2000" b="1" dirty="0" err="1">
                <a:latin typeface="Bookman Old Style" panose="02050604050505020204" pitchFamily="18" charset="0"/>
              </a:rPr>
              <a:t>Ghatole</a:t>
            </a:r>
            <a:endParaRPr lang="en-US" sz="2000" b="1" dirty="0">
              <a:latin typeface="Bookman Old Style" panose="02050604050505020204" pitchFamily="18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000" b="1" dirty="0">
                <a:latin typeface="Bookman Old Style" panose="02050604050505020204" pitchFamily="18" charset="0"/>
              </a:rPr>
              <a:t>Mandar G. Chatur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000" b="1" dirty="0">
                <a:latin typeface="Bookman Old Style" panose="02050604050505020204" pitchFamily="18" charset="0"/>
              </a:rPr>
              <a:t>Pravesh C. Mhaiskar</a:t>
            </a:r>
          </a:p>
          <a:p>
            <a:pPr marL="457200" indent="-457200">
              <a:lnSpc>
                <a:spcPct val="150000"/>
              </a:lnSpc>
              <a:buFontTx/>
              <a:buAutoNum type="arabicPeriod"/>
            </a:pPr>
            <a:r>
              <a:rPr lang="en-US" sz="2000" b="1" dirty="0">
                <a:latin typeface="Bookman Old Style" panose="02050604050505020204" pitchFamily="18" charset="0"/>
              </a:rPr>
              <a:t>Manish P. Dhaye	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ECEADC1-E953-682A-4E9B-E830206D394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560"/>
          <a:stretch/>
        </p:blipFill>
        <p:spPr>
          <a:xfrm>
            <a:off x="9548735" y="149902"/>
            <a:ext cx="1888758" cy="16861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3F95ED0-AC35-BE69-8ED3-F37B1D79C4C9}"/>
              </a:ext>
            </a:extLst>
          </p:cNvPr>
          <p:cNvSpPr txBox="1"/>
          <p:nvPr/>
        </p:nvSpPr>
        <p:spPr>
          <a:xfrm>
            <a:off x="1978703" y="605238"/>
            <a:ext cx="75969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latin typeface="Bookman Old Style" panose="02050604050505020204" pitchFamily="18" charset="0"/>
              </a:rPr>
              <a:t>SIPNA COLLEGE OF ENGINEERING AND TECHNOLOGY </a:t>
            </a:r>
          </a:p>
          <a:p>
            <a:pPr algn="ctr"/>
            <a:r>
              <a:rPr lang="en-US" sz="2000" b="1" dirty="0">
                <a:latin typeface="Bookman Old Style" panose="02050604050505020204" pitchFamily="18" charset="0"/>
              </a:rPr>
              <a:t>AMRAVATI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EE64A9-2FAF-166A-BDDD-ECDBCD2A8FD8}"/>
              </a:ext>
            </a:extLst>
          </p:cNvPr>
          <p:cNvSpPr txBox="1"/>
          <p:nvPr/>
        </p:nvSpPr>
        <p:spPr>
          <a:xfrm>
            <a:off x="6700603" y="4608668"/>
            <a:ext cx="4512037" cy="1047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latin typeface="Bookman Old Style"/>
              </a:rPr>
              <a:t>Guided By : </a:t>
            </a:r>
            <a:r>
              <a:rPr lang="en-US" sz="2000" b="1" dirty="0">
                <a:latin typeface="Bookman Old Style"/>
              </a:rPr>
              <a:t>Prof. Neha G. Rathi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latin typeface="Bookman Old Style" panose="02050604050505020204" pitchFamily="18" charset="0"/>
              </a:rPr>
              <a:t>Academic Year: </a:t>
            </a:r>
            <a:r>
              <a:rPr lang="en-US" sz="2000" b="1" dirty="0">
                <a:latin typeface="Bookman Old Style" panose="02050604050505020204" pitchFamily="18" charset="0"/>
              </a:rPr>
              <a:t>2024-2025</a:t>
            </a:r>
            <a:endParaRPr lang="en-US" sz="2000" b="1" dirty="0">
              <a:latin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3448770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C958810-4718-BEC0-5915-6387BE0EA429}"/>
              </a:ext>
            </a:extLst>
          </p:cNvPr>
          <p:cNvSpPr txBox="1"/>
          <p:nvPr/>
        </p:nvSpPr>
        <p:spPr>
          <a:xfrm>
            <a:off x="239843" y="89942"/>
            <a:ext cx="29658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Bookman Old Style" panose="02050604050505020204" pitchFamily="18" charset="0"/>
              </a:rPr>
              <a:t>Contents :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50BDC3D-B6AD-DA03-4E1D-3AD3C55479D1}"/>
              </a:ext>
            </a:extLst>
          </p:cNvPr>
          <p:cNvCxnSpPr>
            <a:cxnSpLocks/>
          </p:cNvCxnSpPr>
          <p:nvPr/>
        </p:nvCxnSpPr>
        <p:spPr>
          <a:xfrm>
            <a:off x="239843" y="914403"/>
            <a:ext cx="401736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6F03132-3FF5-3045-60D0-F5D92B117B94}"/>
              </a:ext>
            </a:extLst>
          </p:cNvPr>
          <p:cNvSpPr txBox="1"/>
          <p:nvPr/>
        </p:nvSpPr>
        <p:spPr>
          <a:xfrm flipH="1">
            <a:off x="559486" y="914403"/>
            <a:ext cx="8959269" cy="5539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arenR"/>
            </a:pPr>
            <a:r>
              <a:rPr lang="en-US" sz="20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arenR"/>
            </a:pPr>
            <a:r>
              <a:rPr lang="en-US" sz="20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arenR"/>
            </a:pPr>
            <a:r>
              <a:rPr lang="en-US" sz="20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System Overview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arenR"/>
            </a:pPr>
            <a:r>
              <a:rPr lang="en-US" sz="2000" b="1" dirty="0">
                <a:latin typeface="Bookman Old Style" panose="02050604050505020204" pitchFamily="18" charset="0"/>
              </a:rPr>
              <a:t>Pillar 1 - Virtual Waiting Room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arenR"/>
            </a:pPr>
            <a:r>
              <a:rPr lang="en-US" sz="2000" b="1" kern="1200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Pillar 2 - AI-based Chatbot </a:t>
            </a:r>
            <a:endParaRPr lang="en-US" sz="2000" dirty="0">
              <a:effectLst/>
              <a:latin typeface="Bookman Old Style" panose="02050604050505020204" pitchFamily="18" charset="0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arenR"/>
            </a:pPr>
            <a:r>
              <a:rPr lang="en-US" sz="2000" b="1" kern="1200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Pillar 3 - Blockchain Security</a:t>
            </a:r>
            <a:endParaRPr lang="en-US" sz="2000" b="1" dirty="0">
              <a:latin typeface="Bookman Old Style" panose="02050604050505020204" pitchFamily="18" charset="0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arenR"/>
            </a:pPr>
            <a:r>
              <a:rPr lang="en-US" sz="20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Advantages and Challenges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arenR"/>
            </a:pPr>
            <a:r>
              <a:rPr lang="en-US" sz="20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arenR"/>
            </a:pPr>
            <a:r>
              <a:rPr lang="en-US" sz="20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138057-7667-1343-6BD8-33CB903B8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Sipna C.O.E.T. Amravati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8FDF36-D7C6-E882-7D67-767485696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41BA-5EAB-4868-8B9F-2DCA7FC0EE5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218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F069876-0D11-12D2-6EFE-49F8AEC9F139}"/>
              </a:ext>
            </a:extLst>
          </p:cNvPr>
          <p:cNvSpPr txBox="1"/>
          <p:nvPr/>
        </p:nvSpPr>
        <p:spPr>
          <a:xfrm>
            <a:off x="239843" y="89942"/>
            <a:ext cx="39292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Bookman Old Style" panose="02050604050505020204" pitchFamily="18" charset="0"/>
              </a:rPr>
              <a:t>Introduction :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13DECE2-4698-B8EC-A1A4-F9585888A18F}"/>
              </a:ext>
            </a:extLst>
          </p:cNvPr>
          <p:cNvCxnSpPr>
            <a:cxnSpLocks/>
          </p:cNvCxnSpPr>
          <p:nvPr/>
        </p:nvCxnSpPr>
        <p:spPr>
          <a:xfrm>
            <a:off x="239843" y="914403"/>
            <a:ext cx="401736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DDBFFA1-C8D2-F3CB-E612-1265F2EF2C94}"/>
              </a:ext>
            </a:extLst>
          </p:cNvPr>
          <p:cNvSpPr txBox="1"/>
          <p:nvPr/>
        </p:nvSpPr>
        <p:spPr>
          <a:xfrm>
            <a:off x="0" y="1198346"/>
            <a:ext cx="11575280" cy="1471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Bookman Old Style"/>
              </a:rPr>
              <a:t>What is </a:t>
            </a:r>
            <a:r>
              <a:rPr lang="en-US" sz="2100" b="1" dirty="0" err="1">
                <a:latin typeface="Bookman Old Style"/>
              </a:rPr>
              <a:t>DigiTAL</a:t>
            </a:r>
            <a:r>
              <a:rPr lang="en-US" sz="2100" b="1" dirty="0">
                <a:latin typeface="Bookman Old Style"/>
              </a:rPr>
              <a:t>? : </a:t>
            </a:r>
          </a:p>
          <a:p>
            <a:pPr>
              <a:lnSpc>
                <a:spcPct val="150000"/>
              </a:lnSpc>
            </a:pPr>
            <a:r>
              <a:rPr lang="en-US" sz="2100" b="1" dirty="0">
                <a:latin typeface="Bookman Old Style"/>
              </a:rPr>
              <a:t>	</a:t>
            </a:r>
            <a:r>
              <a:rPr lang="en-US" sz="2100" dirty="0">
                <a:latin typeface="Bookman Old Style"/>
              </a:rPr>
              <a:t>- </a:t>
            </a:r>
            <a:r>
              <a:rPr lang="en-US" sz="2000" dirty="0">
                <a:latin typeface="Bookman Old Style" panose="02050604050505020204" pitchFamily="18" charset="0"/>
              </a:rPr>
              <a:t>A Digital Hospital Management System (HMS)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Bookman Old Style" panose="02050604050505020204" pitchFamily="18" charset="0"/>
              </a:rPr>
              <a:t>	- Improve hospital efficiency, patient care, and data security.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21088D-0237-D2F5-9F57-4203511CAD86}"/>
              </a:ext>
            </a:extLst>
          </p:cNvPr>
          <p:cNvSpPr txBox="1"/>
          <p:nvPr/>
        </p:nvSpPr>
        <p:spPr>
          <a:xfrm>
            <a:off x="0" y="3091028"/>
            <a:ext cx="5607625" cy="285629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100" b="1" dirty="0">
                <a:latin typeface="Bookman Old Style" panose="02050604050505020204" pitchFamily="18" charset="0"/>
              </a:rPr>
              <a:t>Problem Statement :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100" b="1" dirty="0">
                <a:latin typeface="Bookman Old Style" panose="02050604050505020204" pitchFamily="18" charset="0"/>
              </a:rPr>
              <a:t>	</a:t>
            </a:r>
            <a:r>
              <a:rPr lang="en-US" sz="2000" dirty="0">
                <a:latin typeface="Bookman Old Style" panose="02050604050505020204" pitchFamily="18" charset="0"/>
              </a:rPr>
              <a:t>Overcome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Hospital Challenges like :</a:t>
            </a:r>
          </a:p>
          <a:p>
            <a:pPr marL="1714500" lvl="3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Long waiting times.</a:t>
            </a:r>
          </a:p>
          <a:p>
            <a:pPr marL="1714500" lvl="3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Inefficient scheduling.</a:t>
            </a:r>
          </a:p>
          <a:p>
            <a:pPr marL="1714500" lvl="3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Insecure data management.</a:t>
            </a:r>
          </a:p>
          <a:p>
            <a:pPr marL="1714500" lvl="3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Overloaded staff.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EDAF6E-B063-F0A7-610E-7BF5AF8D3BC5}"/>
              </a:ext>
            </a:extLst>
          </p:cNvPr>
          <p:cNvSpPr txBox="1"/>
          <p:nvPr/>
        </p:nvSpPr>
        <p:spPr>
          <a:xfrm>
            <a:off x="6584377" y="3091028"/>
            <a:ext cx="3889206" cy="190988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342900" indent="-3429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Bookman Old Style" panose="02050604050505020204" pitchFamily="18" charset="0"/>
              </a:rPr>
              <a:t>Main Pillars : 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Bookman Old Style" panose="02050604050505020204" pitchFamily="18" charset="0"/>
              </a:rPr>
              <a:t>Virtual Waiting Room 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Bookman Old Style" panose="02050604050505020204" pitchFamily="18" charset="0"/>
              </a:rPr>
              <a:t>AI-based Chatbot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Bookman Old Style" panose="02050604050505020204" pitchFamily="18" charset="0"/>
              </a:rPr>
              <a:t>Blockchain Security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DA0DCC-FC50-2BFF-70AB-1FC1312810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80741" y="284455"/>
            <a:ext cx="3811910" cy="168136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1543C6-4DB4-CF03-28E7-2C3026A68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Sipna C.O.E.T. Amravati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39406DD-B4A6-EEFB-1246-511C0D6BF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41BA-5EAB-4868-8B9F-2DCA7FC0EE5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218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F67F9AA-0893-4232-B81F-3DD5D32B60C9}"/>
              </a:ext>
            </a:extLst>
          </p:cNvPr>
          <p:cNvSpPr txBox="1"/>
          <p:nvPr/>
        </p:nvSpPr>
        <p:spPr>
          <a:xfrm>
            <a:off x="239843" y="209862"/>
            <a:ext cx="34900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Bookman Old Style" panose="02050604050505020204" pitchFamily="18" charset="0"/>
              </a:rPr>
              <a:t>Objectives : </a:t>
            </a:r>
            <a:endParaRPr lang="en-US" sz="4000" b="1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FB94A53-183D-D3ED-C3F2-2482B5B8AA0B}"/>
              </a:ext>
            </a:extLst>
          </p:cNvPr>
          <p:cNvCxnSpPr>
            <a:cxnSpLocks/>
          </p:cNvCxnSpPr>
          <p:nvPr/>
        </p:nvCxnSpPr>
        <p:spPr>
          <a:xfrm>
            <a:off x="239843" y="1064301"/>
            <a:ext cx="268535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058A512-4BE2-603A-9A95-E797EE40F6A3}"/>
              </a:ext>
            </a:extLst>
          </p:cNvPr>
          <p:cNvSpPr txBox="1"/>
          <p:nvPr/>
        </p:nvSpPr>
        <p:spPr>
          <a:xfrm>
            <a:off x="236720" y="1474917"/>
            <a:ext cx="8773556" cy="36761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rtl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Bookman Old Style" panose="02050604050505020204" pitchFamily="18" charset="0"/>
              </a:rPr>
              <a:t>Automate scheduling, and data management.</a:t>
            </a:r>
          </a:p>
          <a:p>
            <a:pPr marL="342900" indent="-342900" rtl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Bookman Old Style" panose="02050604050505020204" pitchFamily="18" charset="0"/>
              </a:rPr>
              <a:t>Reduce</a:t>
            </a:r>
            <a:r>
              <a:rPr lang="en-US" sz="2400" dirty="0">
                <a:latin typeface="Bookman Old Style" panose="02050604050505020204" pitchFamily="18" charset="0"/>
              </a:rPr>
              <a:t> waiting times with virtual waiting rooms.</a:t>
            </a:r>
          </a:p>
          <a:p>
            <a:pPr marL="342900" indent="-342900" rtl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Bookman Old Style" panose="02050604050505020204" pitchFamily="18" charset="0"/>
              </a:rPr>
              <a:t>Secure </a:t>
            </a:r>
            <a:r>
              <a:rPr lang="en-US" sz="2400" dirty="0">
                <a:latin typeface="Bookman Old Style" panose="02050604050505020204" pitchFamily="18" charset="0"/>
              </a:rPr>
              <a:t>data</a:t>
            </a:r>
            <a:r>
              <a:rPr lang="en-US" sz="2400" b="1" dirty="0">
                <a:latin typeface="Bookman Old Style" panose="02050604050505020204" pitchFamily="18" charset="0"/>
              </a:rPr>
              <a:t> </a:t>
            </a:r>
            <a:r>
              <a:rPr lang="en-US" sz="2400" dirty="0">
                <a:latin typeface="Bookman Old Style" panose="02050604050505020204" pitchFamily="18" charset="0"/>
              </a:rPr>
              <a:t>using blockchain technology.</a:t>
            </a:r>
          </a:p>
          <a:p>
            <a:pPr marL="342900" indent="-342900" rtl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Bookman Old Style" panose="02050604050505020204" pitchFamily="18" charset="0"/>
              </a:rPr>
              <a:t>Improve</a:t>
            </a:r>
            <a:r>
              <a:rPr lang="en-US" sz="2400" dirty="0">
                <a:latin typeface="Bookman Old Style" panose="02050604050505020204" pitchFamily="18" charset="0"/>
              </a:rPr>
              <a:t> patient care with AI doctor matching.</a:t>
            </a:r>
          </a:p>
          <a:p>
            <a:pPr marL="342900" indent="-342900" rtl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Bookman Old Style" panose="02050604050505020204" pitchFamily="18" charset="0"/>
              </a:rPr>
              <a:t>Eliminate paper-based </a:t>
            </a:r>
            <a:r>
              <a:rPr lang="en-US" sz="2400" dirty="0">
                <a:latin typeface="Bookman Old Style" panose="02050604050505020204" pitchFamily="18" charset="0"/>
              </a:rPr>
              <a:t>workflows through digitization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B749B27-29D2-7B9C-EAFC-A5AB040AC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Sipna C.O.E.T. Amravati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6760807-62AF-B8AC-4765-055564852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41BA-5EAB-4868-8B9F-2DCA7FC0EE5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039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04660D3-FDF3-BDFF-0524-BB13B008F037}"/>
              </a:ext>
            </a:extLst>
          </p:cNvPr>
          <p:cNvSpPr txBox="1"/>
          <p:nvPr/>
        </p:nvSpPr>
        <p:spPr>
          <a:xfrm>
            <a:off x="164893" y="14992"/>
            <a:ext cx="51299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n-US" sz="4000" b="1" dirty="0">
                <a:latin typeface="Bookman Old Style" panose="02050604050505020204" pitchFamily="18" charset="0"/>
              </a:rPr>
              <a:t>System Overview :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A4440EE-B4D3-6DCB-FC50-68B116657DEA}"/>
              </a:ext>
            </a:extLst>
          </p:cNvPr>
          <p:cNvCxnSpPr>
            <a:cxnSpLocks/>
          </p:cNvCxnSpPr>
          <p:nvPr/>
        </p:nvCxnSpPr>
        <p:spPr>
          <a:xfrm>
            <a:off x="239843" y="824463"/>
            <a:ext cx="6205927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5A4289C-3F29-3A2C-20DC-4EE6682C6B7F}"/>
              </a:ext>
            </a:extLst>
          </p:cNvPr>
          <p:cNvSpPr txBox="1"/>
          <p:nvPr/>
        </p:nvSpPr>
        <p:spPr>
          <a:xfrm>
            <a:off x="241452" y="994997"/>
            <a:ext cx="6044339" cy="4987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rtl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Bookman Old Style" panose="02050604050505020204" pitchFamily="18" charset="0"/>
              </a:rPr>
              <a:t>Modules</a:t>
            </a:r>
            <a:r>
              <a:rPr lang="en-US" sz="2100" dirty="0">
                <a:latin typeface="Bookman Old Style" panose="02050604050505020204" pitchFamily="18" charset="0"/>
              </a:rPr>
              <a:t>:</a:t>
            </a:r>
          </a:p>
          <a:p>
            <a:pPr marL="800100" lvl="1" indent="-342900" rtl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Bookman Old Style" panose="02050604050505020204" pitchFamily="18" charset="0"/>
              </a:rPr>
              <a:t>Patient, Desk, Doctor, Lab, Admin.</a:t>
            </a:r>
          </a:p>
          <a:p>
            <a:pPr marL="342900" indent="-342900" rtl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Bookman Old Style" panose="02050604050505020204" pitchFamily="18" charset="0"/>
              </a:rPr>
              <a:t>Technologies Used</a:t>
            </a:r>
            <a:r>
              <a:rPr lang="en-US" sz="2100" dirty="0">
                <a:latin typeface="Bookman Old Style" panose="02050604050505020204" pitchFamily="18" charset="0"/>
              </a:rPr>
              <a:t>:</a:t>
            </a:r>
          </a:p>
          <a:p>
            <a:pPr marL="742950" lvl="1" indent="-285750" rtl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Bookman Old Style" panose="02050604050505020204" pitchFamily="18" charset="0"/>
              </a:rPr>
              <a:t>Django, SQLite for </a:t>
            </a:r>
            <a:r>
              <a:rPr lang="en-US" sz="2000" b="1" dirty="0">
                <a:latin typeface="Bookman Old Style" panose="02050604050505020204" pitchFamily="18" charset="0"/>
              </a:rPr>
              <a:t>backend</a:t>
            </a:r>
            <a:r>
              <a:rPr lang="en-US" sz="2000" dirty="0">
                <a:latin typeface="Bookman Old Style" panose="02050604050505020204" pitchFamily="18" charset="0"/>
              </a:rPr>
              <a:t>.</a:t>
            </a:r>
          </a:p>
          <a:p>
            <a:pPr marL="742950" lvl="1" indent="-285750" rtl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Bookman Old Style" panose="02050604050505020204" pitchFamily="18" charset="0"/>
              </a:rPr>
              <a:t>HTML, CSS, JavaScript for </a:t>
            </a:r>
            <a:r>
              <a:rPr lang="en-US" sz="2000" b="1" dirty="0">
                <a:latin typeface="Bookman Old Style" panose="02050604050505020204" pitchFamily="18" charset="0"/>
              </a:rPr>
              <a:t>frontend</a:t>
            </a:r>
            <a:r>
              <a:rPr lang="en-US" sz="2000" dirty="0">
                <a:latin typeface="Bookman Old Style" panose="02050604050505020204" pitchFamily="18" charset="0"/>
              </a:rPr>
              <a:t>.</a:t>
            </a:r>
          </a:p>
          <a:p>
            <a:pPr marL="742950" lvl="1" indent="-285750" rtl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Bookman Old Style" panose="02050604050505020204" pitchFamily="18" charset="0"/>
              </a:rPr>
              <a:t>AI: </a:t>
            </a:r>
            <a:r>
              <a:rPr lang="en-US" sz="2000" dirty="0" err="1">
                <a:latin typeface="Bookman Old Style" panose="02050604050505020204" pitchFamily="18" charset="0"/>
              </a:rPr>
              <a:t>SpaCy</a:t>
            </a:r>
            <a:r>
              <a:rPr lang="en-US" sz="2000" dirty="0">
                <a:latin typeface="Bookman Old Style" panose="02050604050505020204" pitchFamily="18" charset="0"/>
              </a:rPr>
              <a:t> for </a:t>
            </a:r>
            <a:r>
              <a:rPr lang="en-US" sz="2000" b="1" dirty="0">
                <a:latin typeface="Bookman Old Style" panose="02050604050505020204" pitchFamily="18" charset="0"/>
              </a:rPr>
              <a:t>chatbots</a:t>
            </a:r>
            <a:r>
              <a:rPr lang="en-US" sz="2000" dirty="0">
                <a:latin typeface="Bookman Old Style" panose="02050604050505020204" pitchFamily="18" charset="0"/>
              </a:rPr>
              <a:t>.</a:t>
            </a:r>
          </a:p>
          <a:p>
            <a:pPr marL="742950" lvl="1" indent="-285750" rtl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Bookman Old Style" panose="02050604050505020204" pitchFamily="18" charset="0"/>
              </a:rPr>
              <a:t>Blockchain</a:t>
            </a:r>
            <a:r>
              <a:rPr lang="en-US" sz="2000" dirty="0">
                <a:latin typeface="Bookman Old Style" panose="02050604050505020204" pitchFamily="18" charset="0"/>
              </a:rPr>
              <a:t>: Ganache, Solidity.</a:t>
            </a:r>
          </a:p>
          <a:p>
            <a:pPr marL="742950" lvl="1" indent="-285750" rtl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Bookman Old Style" panose="02050604050505020204" pitchFamily="18" charset="0"/>
              </a:rPr>
              <a:t>Git + </a:t>
            </a:r>
            <a:r>
              <a:rPr lang="en-US" sz="2000" b="1" dirty="0" err="1">
                <a:latin typeface="Bookman Old Style" panose="02050604050505020204" pitchFamily="18" charset="0"/>
              </a:rPr>
              <a:t>Github</a:t>
            </a:r>
            <a:r>
              <a:rPr lang="en-US" sz="2000" b="1" dirty="0">
                <a:latin typeface="Bookman Old Style" panose="02050604050505020204" pitchFamily="18" charset="0"/>
              </a:rPr>
              <a:t> </a:t>
            </a:r>
            <a:r>
              <a:rPr lang="en-US" sz="2000" dirty="0">
                <a:latin typeface="Bookman Old Style" panose="02050604050505020204" pitchFamily="18" charset="0"/>
              </a:rPr>
              <a:t>for Version Controlling.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067A93A-C2CE-94F8-C6EA-929D40051D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3740" y="1854548"/>
            <a:ext cx="1608464" cy="1608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DE8F053D-8105-4E13-E255-58068ABAF1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3435" y="2131650"/>
            <a:ext cx="2093984" cy="9905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A30636E-7346-1505-AA0E-183E5C2E3D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8893" y="189248"/>
            <a:ext cx="2769087" cy="13845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872714B-105B-CE9C-A908-F3843F4AC6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5504" y="3850170"/>
            <a:ext cx="2743200" cy="8229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E989E93-8F9F-7B64-7F8E-05C44BCCA5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7972" y="5060288"/>
            <a:ext cx="3030927" cy="16084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D4C029-6CBB-0F78-00C2-3A9B489D5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Sipna C.O.E.T. Amravati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BBC032-A9C1-88CB-E7CD-1AFFB8EBB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41BA-5EAB-4868-8B9F-2DCA7FC0EE54}" type="slidenum">
              <a:rPr lang="en-US" smtClean="0"/>
              <a:t>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6F01C2-6F87-D73E-6563-39D5965D45E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7980" y="3584719"/>
            <a:ext cx="1233496" cy="12609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FCE46AA-4B01-FA19-F751-B12CBBAEA8E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8704" y="3632032"/>
            <a:ext cx="1233496" cy="12334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0140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F270B4-8688-729F-8B8E-D988DC376EA1}"/>
              </a:ext>
            </a:extLst>
          </p:cNvPr>
          <p:cNvSpPr txBox="1"/>
          <p:nvPr/>
        </p:nvSpPr>
        <p:spPr>
          <a:xfrm>
            <a:off x="269825" y="205883"/>
            <a:ext cx="70342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Bookman Old Style" panose="02050604050505020204" pitchFamily="18" charset="0"/>
              </a:rPr>
              <a:t>Pillar 1 - Virtual Waiting Room </a:t>
            </a:r>
            <a:r>
              <a:rPr lang="en-US" sz="3000" b="1" dirty="0">
                <a:latin typeface="Bookman Old Style" panose="02050604050505020204" pitchFamily="18" charset="0"/>
              </a:rPr>
              <a:t>: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EF24190-D28E-8B77-3A11-74A697AAC35F}"/>
              </a:ext>
            </a:extLst>
          </p:cNvPr>
          <p:cNvCxnSpPr>
            <a:cxnSpLocks/>
          </p:cNvCxnSpPr>
          <p:nvPr/>
        </p:nvCxnSpPr>
        <p:spPr>
          <a:xfrm>
            <a:off x="734520" y="944384"/>
            <a:ext cx="578620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3A933B4-64DB-85A6-81E7-A51047B88B18}"/>
              </a:ext>
            </a:extLst>
          </p:cNvPr>
          <p:cNvSpPr txBox="1"/>
          <p:nvPr/>
        </p:nvSpPr>
        <p:spPr>
          <a:xfrm>
            <a:off x="239849" y="1341791"/>
            <a:ext cx="7034298" cy="42643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Bookman Old Style" panose="02050604050505020204" pitchFamily="18" charset="0"/>
              </a:rPr>
              <a:t>What it does</a:t>
            </a:r>
            <a:r>
              <a:rPr lang="en-US" sz="2100" dirty="0">
                <a:latin typeface="Bookman Old Style" panose="02050604050505020204" pitchFamily="18" charset="0"/>
              </a:rPr>
              <a:t>:</a:t>
            </a:r>
            <a:endParaRPr lang="en-US" sz="2000" dirty="0">
              <a:latin typeface="Bookman Old Style" panose="02050604050505020204" pitchFamily="18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Bookman Old Style" panose="02050604050505020204" pitchFamily="18" charset="0"/>
              </a:rPr>
              <a:t>Manages patient queues in real-time.</a:t>
            </a:r>
          </a:p>
          <a:p>
            <a:pPr marL="342900" indent="-3429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Bookman Old Style" panose="02050604050505020204" pitchFamily="18" charset="0"/>
              </a:rPr>
              <a:t>Features</a:t>
            </a:r>
            <a:r>
              <a:rPr lang="en-US" sz="2100" dirty="0">
                <a:latin typeface="Bookman Old Style" panose="02050604050505020204" pitchFamily="18" charset="0"/>
              </a:rPr>
              <a:t>: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Bookman Old Style" panose="02050604050505020204" pitchFamily="18" charset="0"/>
              </a:rPr>
              <a:t>Real-time queue updates via </a:t>
            </a:r>
            <a:r>
              <a:rPr lang="en-US" sz="2000" dirty="0" err="1">
                <a:latin typeface="Bookman Old Style" panose="02050604050505020204" pitchFamily="18" charset="0"/>
              </a:rPr>
              <a:t>WebSockets</a:t>
            </a:r>
            <a:r>
              <a:rPr lang="en-US" sz="2000" dirty="0">
                <a:latin typeface="Bookman Old Style" panose="02050604050505020204" pitchFamily="18" charset="0"/>
              </a:rPr>
              <a:t>.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Bookman Old Style" panose="02050604050505020204" pitchFamily="18" charset="0"/>
              </a:rPr>
              <a:t>FIFO and Priority Queue algorithms.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Bookman Old Style" panose="02050604050505020204" pitchFamily="18" charset="0"/>
              </a:rPr>
              <a:t>Email notifications (Twilio, SendGrid).</a:t>
            </a:r>
          </a:p>
          <a:p>
            <a:pPr marL="342900" indent="-3429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Bookman Old Style" panose="02050604050505020204" pitchFamily="18" charset="0"/>
              </a:rPr>
              <a:t>Results</a:t>
            </a:r>
            <a:r>
              <a:rPr lang="en-US" sz="2100" dirty="0">
                <a:latin typeface="Bookman Old Style" panose="02050604050505020204" pitchFamily="18" charset="0"/>
              </a:rPr>
              <a:t>: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Bookman Old Style" panose="02050604050505020204" pitchFamily="18" charset="0"/>
              </a:rPr>
              <a:t>Achieves accuracy in queue management.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Bookman Old Style" panose="02050604050505020204" pitchFamily="18" charset="0"/>
              </a:rPr>
              <a:t>Reduces crowding and wait times.</a:t>
            </a:r>
          </a:p>
        </p:txBody>
      </p:sp>
      <p:pic>
        <p:nvPicPr>
          <p:cNvPr id="3080" name="Picture 8">
            <a:extLst>
              <a:ext uri="{FF2B5EF4-FFF2-40B4-BE49-F238E27FC236}">
                <a16:creationId xmlns:a16="http://schemas.microsoft.com/office/drawing/2014/main" id="{12026FEC-7B90-DFC4-3CBB-BAD95973A8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4123" y="1977998"/>
            <a:ext cx="4756877" cy="299195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C02B45-5D09-5DF7-589D-4550B63DD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Sipna C.O.E.T. Amravati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BD89EE-8773-A398-4A46-2DBB7F389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41BA-5EAB-4868-8B9F-2DCA7FC0EE5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345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C1870-AE6F-6F3E-49EC-4DB78FFE7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4D1731-3FC4-E8A1-BA3B-7916B012A816}"/>
              </a:ext>
            </a:extLst>
          </p:cNvPr>
          <p:cNvSpPr txBox="1"/>
          <p:nvPr/>
        </p:nvSpPr>
        <p:spPr>
          <a:xfrm>
            <a:off x="59963" y="104932"/>
            <a:ext cx="60644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Bookman Old Style" panose="02050604050505020204" pitchFamily="18" charset="0"/>
              </a:rPr>
              <a:t>Pillar 2 - AI-based Chatbot </a:t>
            </a:r>
            <a:r>
              <a:rPr lang="en-US" sz="3000" b="1" dirty="0">
                <a:latin typeface="Bookman Old Style" panose="02050604050505020204" pitchFamily="18" charset="0"/>
              </a:rPr>
              <a:t>: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8AD6DAA-7C3A-42F6-DBBE-6E59E66FE96F}"/>
              </a:ext>
            </a:extLst>
          </p:cNvPr>
          <p:cNvCxnSpPr>
            <a:cxnSpLocks/>
          </p:cNvCxnSpPr>
          <p:nvPr/>
        </p:nvCxnSpPr>
        <p:spPr>
          <a:xfrm>
            <a:off x="449707" y="824463"/>
            <a:ext cx="578620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EFB76AF-D505-16D3-EA50-E7045F85905D}"/>
              </a:ext>
            </a:extLst>
          </p:cNvPr>
          <p:cNvSpPr txBox="1"/>
          <p:nvPr/>
        </p:nvSpPr>
        <p:spPr>
          <a:xfrm>
            <a:off x="449707" y="1307500"/>
            <a:ext cx="8244843" cy="42643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Bookman Old Style" panose="02050604050505020204" pitchFamily="18" charset="0"/>
              </a:rPr>
              <a:t>What it does</a:t>
            </a:r>
            <a:r>
              <a:rPr lang="en-US" sz="2100" dirty="0">
                <a:latin typeface="Bookman Old Style" panose="02050604050505020204" pitchFamily="18" charset="0"/>
              </a:rPr>
              <a:t>:</a:t>
            </a:r>
            <a:endParaRPr lang="en-US" sz="2000" dirty="0">
              <a:latin typeface="Bookman Old Style" panose="02050604050505020204" pitchFamily="18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Bookman Old Style" panose="02050604050505020204" pitchFamily="18" charset="0"/>
              </a:rPr>
              <a:t>Helps patients book appointments and find doctors.</a:t>
            </a:r>
          </a:p>
          <a:p>
            <a:pPr marL="342900" indent="-3429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Bookman Old Style" panose="02050604050505020204" pitchFamily="18" charset="0"/>
              </a:rPr>
              <a:t>Features</a:t>
            </a:r>
            <a:r>
              <a:rPr lang="en-US" sz="2100" dirty="0">
                <a:latin typeface="Bookman Old Style" panose="02050604050505020204" pitchFamily="18" charset="0"/>
              </a:rPr>
              <a:t>: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Bookman Old Style" panose="02050604050505020204" pitchFamily="18" charset="0"/>
              </a:rPr>
              <a:t>Symptom analysis using </a:t>
            </a:r>
            <a:r>
              <a:rPr lang="en-US" sz="2000" dirty="0" err="1">
                <a:latin typeface="Bookman Old Style" panose="02050604050505020204" pitchFamily="18" charset="0"/>
              </a:rPr>
              <a:t>SpaCy</a:t>
            </a:r>
            <a:r>
              <a:rPr lang="en-US" sz="2000" dirty="0">
                <a:latin typeface="Bookman Old Style" panose="02050604050505020204" pitchFamily="18" charset="0"/>
              </a:rPr>
              <a:t> NER.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Bookman Old Style" panose="02050604050505020204" pitchFamily="18" charset="0"/>
              </a:rPr>
              <a:t>Recommends doctors based on symptoms.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Bookman Old Style" panose="02050604050505020204" pitchFamily="18" charset="0"/>
              </a:rPr>
              <a:t>Books appointments automatically.</a:t>
            </a:r>
          </a:p>
          <a:p>
            <a:pPr marL="342900" indent="-3429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Bookman Old Style" panose="02050604050505020204" pitchFamily="18" charset="0"/>
              </a:rPr>
              <a:t>Results</a:t>
            </a:r>
            <a:r>
              <a:rPr lang="en-US" sz="2100" dirty="0">
                <a:latin typeface="Bookman Old Style" panose="02050604050505020204" pitchFamily="18" charset="0"/>
              </a:rPr>
              <a:t>: 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Bookman Old Style" panose="02050604050505020204" pitchFamily="18" charset="0"/>
              </a:rPr>
              <a:t>Achieves accuracy in doctor recommendations.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Bookman Old Style" panose="02050604050505020204" pitchFamily="18" charset="0"/>
              </a:rPr>
              <a:t>And success in booking appointments.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9765D6-77A2-B327-3FDB-1C6A3036F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Sipna C.O.E.T. Amravati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D67E93-122E-1B43-3AE0-C05E0C1E9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41BA-5EAB-4868-8B9F-2DCA7FC0EE5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921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458BF-7645-AE48-E9DB-1AE29DD1D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AD5129-19A0-AD7C-507C-2273027D3031}"/>
              </a:ext>
            </a:extLst>
          </p:cNvPr>
          <p:cNvSpPr txBox="1"/>
          <p:nvPr/>
        </p:nvSpPr>
        <p:spPr>
          <a:xfrm>
            <a:off x="59963" y="104932"/>
            <a:ext cx="67393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Bookman Old Style" panose="02050604050505020204" pitchFamily="18" charset="0"/>
              </a:rPr>
              <a:t>Pillar 3 - Blockchain Security :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9081C1-E8DA-52E7-07F3-8ABE8DD049B9}"/>
              </a:ext>
            </a:extLst>
          </p:cNvPr>
          <p:cNvCxnSpPr>
            <a:cxnSpLocks/>
          </p:cNvCxnSpPr>
          <p:nvPr/>
        </p:nvCxnSpPr>
        <p:spPr>
          <a:xfrm>
            <a:off x="418711" y="824463"/>
            <a:ext cx="578620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4339E59-6D64-06A7-7B69-E33FD1DEBE0E}"/>
              </a:ext>
            </a:extLst>
          </p:cNvPr>
          <p:cNvSpPr txBox="1"/>
          <p:nvPr/>
        </p:nvSpPr>
        <p:spPr>
          <a:xfrm>
            <a:off x="418711" y="1390842"/>
            <a:ext cx="8895771" cy="42643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Bookman Old Style" panose="02050604050505020204" pitchFamily="18" charset="0"/>
              </a:rPr>
              <a:t>What it does</a:t>
            </a:r>
            <a:r>
              <a:rPr lang="en-US" sz="2100" dirty="0">
                <a:latin typeface="Bookman Old Style" panose="02050604050505020204" pitchFamily="18" charset="0"/>
              </a:rPr>
              <a:t>: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Bookman Old Style" panose="02050604050505020204" pitchFamily="18" charset="0"/>
              </a:rPr>
              <a:t>Secures medical data like prescriptions and lab reports.</a:t>
            </a:r>
          </a:p>
          <a:p>
            <a:pPr marL="342900" indent="-3429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Bookman Old Style" panose="02050604050505020204" pitchFamily="18" charset="0"/>
              </a:rPr>
              <a:t>Features</a:t>
            </a:r>
            <a:r>
              <a:rPr lang="en-US" sz="2100" dirty="0">
                <a:latin typeface="Bookman Old Style" panose="02050604050505020204" pitchFamily="18" charset="0"/>
              </a:rPr>
              <a:t>: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Bookman Old Style" panose="02050604050505020204" pitchFamily="18" charset="0"/>
              </a:rPr>
              <a:t>Uses Ganache, Solidity for blockchain.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Bookman Old Style" panose="02050604050505020204" pitchFamily="18" charset="0"/>
              </a:rPr>
              <a:t>SHA-256 hashing for data integrity.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Bookman Old Style" panose="02050604050505020204" pitchFamily="18" charset="0"/>
              </a:rPr>
              <a:t>Role-based access control.</a:t>
            </a:r>
          </a:p>
          <a:p>
            <a:pPr marL="342900" indent="-3429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Bookman Old Style" panose="02050604050505020204" pitchFamily="18" charset="0"/>
              </a:rPr>
              <a:t>Results</a:t>
            </a:r>
            <a:r>
              <a:rPr lang="en-US" sz="2100" dirty="0">
                <a:latin typeface="Bookman Old Style" panose="02050604050505020204" pitchFamily="18" charset="0"/>
              </a:rPr>
              <a:t>: 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Bookman Old Style" panose="02050604050505020204" pitchFamily="18" charset="0"/>
              </a:rPr>
              <a:t>Achieves data integrity in 20 test transactions.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Bookman Old Style" panose="02050604050505020204" pitchFamily="18" charset="0"/>
              </a:rPr>
              <a:t>And Prevents tampering and unauthorized access.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BBFB4A-57E4-01A7-1D53-FB972D54C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Sipna C.O.E.T. Amravati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F56B64-1C71-62F7-BC8D-8CA69B910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41BA-5EAB-4868-8B9F-2DCA7FC0EE5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145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629EC4A-C1B6-02CE-185F-2B1290B624AB}"/>
              </a:ext>
            </a:extLst>
          </p:cNvPr>
          <p:cNvSpPr txBox="1"/>
          <p:nvPr/>
        </p:nvSpPr>
        <p:spPr>
          <a:xfrm>
            <a:off x="179883" y="659564"/>
            <a:ext cx="3129383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b="1" dirty="0">
                <a:latin typeface="Bookman Old Style" panose="02050604050505020204" pitchFamily="18" charset="0"/>
              </a:rPr>
              <a:t>Advantages :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56B208-0572-7A6E-FD0C-640C4E5BA10C}"/>
              </a:ext>
            </a:extLst>
          </p:cNvPr>
          <p:cNvCxnSpPr>
            <a:cxnSpLocks/>
          </p:cNvCxnSpPr>
          <p:nvPr/>
        </p:nvCxnSpPr>
        <p:spPr>
          <a:xfrm>
            <a:off x="179883" y="1326901"/>
            <a:ext cx="3133662" cy="2087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2606B31-AC38-624E-7B5A-29C6B5B2EE82}"/>
              </a:ext>
            </a:extLst>
          </p:cNvPr>
          <p:cNvSpPr txBox="1"/>
          <p:nvPr/>
        </p:nvSpPr>
        <p:spPr>
          <a:xfrm>
            <a:off x="6341597" y="689544"/>
            <a:ext cx="3544560" cy="600164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3300" b="1" dirty="0">
                <a:latin typeface="Bookman Old Style"/>
              </a:rPr>
              <a:t>Future Scope :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1AF72FF-56B6-E609-03F3-A5B7DB3A1700}"/>
              </a:ext>
            </a:extLst>
          </p:cNvPr>
          <p:cNvCxnSpPr>
            <a:cxnSpLocks/>
          </p:cNvCxnSpPr>
          <p:nvPr/>
        </p:nvCxnSpPr>
        <p:spPr>
          <a:xfrm>
            <a:off x="6401558" y="1338534"/>
            <a:ext cx="3133662" cy="2087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432E43A-6F6F-8E95-2F4D-F950F2703F97}"/>
              </a:ext>
            </a:extLst>
          </p:cNvPr>
          <p:cNvSpPr txBox="1"/>
          <p:nvPr/>
        </p:nvSpPr>
        <p:spPr>
          <a:xfrm>
            <a:off x="59963" y="1685281"/>
            <a:ext cx="5522666" cy="36949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rtl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Bookman Old Style" panose="02050604050505020204" pitchFamily="18" charset="0"/>
              </a:rPr>
              <a:t>Matches patients with right doctors.</a:t>
            </a:r>
          </a:p>
          <a:p>
            <a:pPr marL="457200" indent="-457200" rtl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Bookman Old Style" panose="02050604050505020204" pitchFamily="18" charset="0"/>
              </a:rPr>
              <a:t>Streamlines hospital workflows.</a:t>
            </a:r>
          </a:p>
          <a:p>
            <a:pPr marL="457200" indent="-457200" rtl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Bookman Old Style" panose="02050604050505020204" pitchFamily="18" charset="0"/>
              </a:rPr>
              <a:t>Scales easily for more users.</a:t>
            </a:r>
          </a:p>
          <a:p>
            <a:pPr marL="457200" indent="-457200" rtl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Bookman Old Style" panose="02050604050505020204" pitchFamily="18" charset="0"/>
              </a:rPr>
              <a:t>Secures data with blockchain.</a:t>
            </a:r>
          </a:p>
          <a:p>
            <a:pPr marL="457200" indent="-457200" rtl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Bookman Old Style" panose="02050604050505020204" pitchFamily="18" charset="0"/>
              </a:rPr>
              <a:t>Reduces wait time with virtual queues.</a:t>
            </a:r>
          </a:p>
          <a:p>
            <a:pPr marL="457200" indent="-457200" rtl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Bookman Old Style" panose="02050604050505020204" pitchFamily="18" charset="0"/>
              </a:rPr>
              <a:t>Cuts paper use by 95%.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1FFCD6-90A3-988B-724D-1AEA6DD659D0}"/>
              </a:ext>
            </a:extLst>
          </p:cNvPr>
          <p:cNvSpPr txBox="1"/>
          <p:nvPr/>
        </p:nvSpPr>
        <p:spPr>
          <a:xfrm>
            <a:off x="6341597" y="1721644"/>
            <a:ext cx="5952270" cy="3271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Bookman Old Style" panose="02050604050505020204" pitchFamily="18" charset="0"/>
              </a:rPr>
              <a:t>Add virtual keyboard for doctors.</a:t>
            </a:r>
          </a:p>
          <a:p>
            <a:pPr marL="342900" indent="-3429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Bookman Old Style" panose="02050604050505020204" pitchFamily="18" charset="0"/>
              </a:rPr>
              <a:t>Use code scanners for lab sample </a:t>
            </a:r>
          </a:p>
          <a:p>
            <a:pPr rtl="0">
              <a:lnSpc>
                <a:spcPct val="150000"/>
              </a:lnSpc>
            </a:pPr>
            <a:r>
              <a:rPr lang="en-US" sz="2000" dirty="0">
                <a:latin typeface="Bookman Old Style" panose="02050604050505020204" pitchFamily="18" charset="0"/>
              </a:rPr>
              <a:t>    verification.</a:t>
            </a:r>
          </a:p>
          <a:p>
            <a:pPr marL="342900" indent="-3429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Bookman Old Style" panose="02050604050505020204" pitchFamily="18" charset="0"/>
              </a:rPr>
              <a:t>Integrate IoT for health monitoring.</a:t>
            </a:r>
          </a:p>
          <a:p>
            <a:pPr marL="342900" indent="-3429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Bookman Old Style" panose="02050604050505020204" pitchFamily="18" charset="0"/>
              </a:rPr>
              <a:t>Improve chatbot with multilingual support.</a:t>
            </a:r>
          </a:p>
          <a:p>
            <a:pPr marL="342900" indent="-3429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Bookman Old Style" panose="02050604050505020204" pitchFamily="18" charset="0"/>
              </a:rPr>
              <a:t>Enhance AI with feedback and predictive </a:t>
            </a:r>
          </a:p>
          <a:p>
            <a:pPr rtl="0">
              <a:lnSpc>
                <a:spcPct val="150000"/>
              </a:lnSpc>
            </a:pPr>
            <a:r>
              <a:rPr lang="en-US" sz="2000" dirty="0">
                <a:latin typeface="Bookman Old Style" panose="02050604050505020204" pitchFamily="18" charset="0"/>
              </a:rPr>
              <a:t>    analytics.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D8E6FD-71DE-54DA-1B9D-1793797EF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Sipna</a:t>
            </a:r>
            <a:r>
              <a:rPr lang="en-US" dirty="0"/>
              <a:t> C.O.E.T. Amravati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649A9B-9865-3558-413B-683C831BA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41BA-5EAB-4868-8B9F-2DCA7FC0EE5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97494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B51BD7-08B2-1CE5-39FD-B009ABBE8D4E}"/>
              </a:ext>
            </a:extLst>
          </p:cNvPr>
          <p:cNvSpPr txBox="1"/>
          <p:nvPr/>
        </p:nvSpPr>
        <p:spPr>
          <a:xfrm>
            <a:off x="239843" y="309413"/>
            <a:ext cx="3179075" cy="64633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3600" b="1" dirty="0">
                <a:latin typeface="Bookman Old Style"/>
              </a:rPr>
              <a:t>Conclusion :</a:t>
            </a:r>
            <a:endParaRPr lang="en-US" sz="3600" b="1" dirty="0">
              <a:latin typeface="Bookman Old Style" panose="02050604050505020204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7971DD4-89E0-F827-6C19-FDC1AC8458BD}"/>
              </a:ext>
            </a:extLst>
          </p:cNvPr>
          <p:cNvCxnSpPr>
            <a:cxnSpLocks/>
          </p:cNvCxnSpPr>
          <p:nvPr/>
        </p:nvCxnSpPr>
        <p:spPr>
          <a:xfrm flipV="1">
            <a:off x="239843" y="1005393"/>
            <a:ext cx="3368782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6EE606F-07DC-91BF-74DB-7FA186BA2834}"/>
              </a:ext>
            </a:extLst>
          </p:cNvPr>
          <p:cNvSpPr txBox="1"/>
          <p:nvPr/>
        </p:nvSpPr>
        <p:spPr>
          <a:xfrm>
            <a:off x="239043" y="1840726"/>
            <a:ext cx="11437814" cy="2945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00" dirty="0">
                <a:latin typeface="Bookman Old Style" panose="02050604050505020204" pitchFamily="18" charset="0"/>
              </a:rPr>
              <a:t>	The </a:t>
            </a:r>
            <a:r>
              <a:rPr lang="en-US" sz="2100" b="1" dirty="0" err="1">
                <a:latin typeface="Bookman Old Style" panose="02050604050505020204" pitchFamily="18" charset="0"/>
              </a:rPr>
              <a:t>DigiTAL</a:t>
            </a:r>
            <a:r>
              <a:rPr lang="en-US" sz="2100" dirty="0">
                <a:latin typeface="Bookman Old Style" panose="02050604050505020204" pitchFamily="18" charset="0"/>
              </a:rPr>
              <a:t> Hospital Management System revolutionizes healthcare by integrating AI and blockchain, achieving 90% workflow automation and 100% data integrity, as demonstrated in our 2024-2025 tests. It enhances patient care with reduced wait times and secure data management, aligning with modern sustainability goals by cutting paper use by 95%. Future enhancements with IoT and NLP will further elevate its impact on healthcare efficiency.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16B677-6971-DE5B-A6F2-95827B488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Sipna C.O.E.T. Amravati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9DAD0E-BE3B-B41E-30AD-BF7D2D522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41BA-5EAB-4868-8B9F-2DCA7FC0EE5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1198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93CC0CDF-7941-4716-E01D-BA0DC07C61D0}"/>
              </a:ext>
            </a:extLst>
          </p:cNvPr>
          <p:cNvSpPr txBox="1"/>
          <p:nvPr/>
        </p:nvSpPr>
        <p:spPr>
          <a:xfrm>
            <a:off x="239843" y="74952"/>
            <a:ext cx="3139001" cy="64633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3600" b="1" dirty="0">
                <a:latin typeface="Bookman Old Style"/>
              </a:rPr>
              <a:t>References :</a:t>
            </a:r>
            <a:endParaRPr lang="en-US" sz="3600" b="1" dirty="0">
              <a:latin typeface="Bookman Old Style" panose="02050604050505020204" pitchFamily="18" charset="0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83E0196-3E59-26CB-DD73-97157EBA24BF}"/>
              </a:ext>
            </a:extLst>
          </p:cNvPr>
          <p:cNvCxnSpPr>
            <a:cxnSpLocks/>
          </p:cNvCxnSpPr>
          <p:nvPr/>
        </p:nvCxnSpPr>
        <p:spPr>
          <a:xfrm flipV="1">
            <a:off x="239843" y="770932"/>
            <a:ext cx="3368782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8892B923-24AA-8F9F-FA3B-1629708FF32D}"/>
              </a:ext>
            </a:extLst>
          </p:cNvPr>
          <p:cNvSpPr txBox="1"/>
          <p:nvPr/>
        </p:nvSpPr>
        <p:spPr>
          <a:xfrm>
            <a:off x="242172" y="993740"/>
            <a:ext cx="11949828" cy="41986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R="101600" algn="just">
              <a:lnSpc>
                <a:spcPct val="150000"/>
              </a:lnSpc>
            </a:pPr>
            <a:r>
              <a:rPr lang="en-US" sz="2000" dirty="0"/>
              <a:t>[1] A. Sharma and R. K. Gupta, “Barriers to Adoption of Hospital Management Systems: A Study of Punjab Healthcare Industry,” International Journal of Technology and Business Management, vol. 10, no. 1, pp. 15-22, 2016. </a:t>
            </a:r>
          </a:p>
          <a:p>
            <a:pPr marR="101600" algn="just">
              <a:lnSpc>
                <a:spcPct val="150000"/>
              </a:lnSpc>
            </a:pPr>
            <a:r>
              <a:rPr lang="en-US" sz="2000" dirty="0"/>
              <a:t>[2] S. Singh and P. Verma, “Advanced Hospital Management System,” in Proceedings of the International Conference on Advances in Computing and Communication Technologies, 2022, pp. 200-207. </a:t>
            </a:r>
          </a:p>
          <a:p>
            <a:pPr marR="101600" algn="just">
              <a:lnSpc>
                <a:spcPct val="150000"/>
              </a:lnSpc>
            </a:pPr>
            <a:r>
              <a:rPr lang="en-US" sz="2000" dirty="0"/>
              <a:t>[3] J. Patel and R. Sharma, “Online Hospital Management System,” International Journal of Computer Applications, vol. 175, no. 7, pp. 25-30, 2022. </a:t>
            </a:r>
          </a:p>
          <a:p>
            <a:pPr marR="101600" algn="just">
              <a:lnSpc>
                <a:spcPct val="150000"/>
              </a:lnSpc>
            </a:pPr>
            <a:r>
              <a:rPr lang="en-US" sz="2000" dirty="0"/>
              <a:t>[4] M. Kumar, S. Prasad, and A. Roy, “Blockchain Integration for Hospital Information System Management,” Journal of Digital Health Technologies, vol. 6, no. 4, pp. 145 152, 2022.</a:t>
            </a:r>
            <a:endParaRPr lang="en-US" sz="2000" dirty="0">
              <a:latin typeface="Bookman Old Style" panose="0205060405050502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67B91-AF61-5053-30EC-A0021F7FF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Sipna C.O.E.T. Amravati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37D2D1-30A2-A156-9A71-2E1C0A41F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41BA-5EAB-4868-8B9F-2DCA7FC0EE5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159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A82E3BA-2676-3B24-9208-BBF868520066}"/>
              </a:ext>
            </a:extLst>
          </p:cNvPr>
          <p:cNvSpPr txBox="1"/>
          <p:nvPr/>
        </p:nvSpPr>
        <p:spPr>
          <a:xfrm>
            <a:off x="2033613" y="1339602"/>
            <a:ext cx="2743199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817F41-0B38-4795-A9C0-1BFB7BF53C6D}"/>
              </a:ext>
            </a:extLst>
          </p:cNvPr>
          <p:cNvSpPr txBox="1"/>
          <p:nvPr/>
        </p:nvSpPr>
        <p:spPr>
          <a:xfrm>
            <a:off x="3022977" y="2613392"/>
            <a:ext cx="6146045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0" b="1" dirty="0">
                <a:latin typeface="Bernard MT Condensed" panose="02050806060905020404" pitchFamily="18" charset="0"/>
                <a:ea typeface="Calibri"/>
                <a:cs typeface="Calibri"/>
              </a:rPr>
              <a:t>Thank You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D8055A-EB8C-A920-6A32-969D08A37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Sipna C.O.E.T. Amravati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ED55EF-6397-6095-6399-0A3685019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41BA-5EAB-4868-8B9F-2DCA7FC0EE5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694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2303</TotalTime>
  <Words>833</Words>
  <Application>Microsoft Office PowerPoint</Application>
  <PresentationFormat>Widescreen</PresentationFormat>
  <Paragraphs>125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Bernard MT Condensed</vt:lpstr>
      <vt:lpstr>Bookman Old Style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Manish Dhaye</dc:creator>
  <cp:lastModifiedBy>Manish Dhaye</cp:lastModifiedBy>
  <cp:revision>18</cp:revision>
  <dcterms:created xsi:type="dcterms:W3CDTF">2024-08-18T03:31:51Z</dcterms:created>
  <dcterms:modified xsi:type="dcterms:W3CDTF">2025-05-01T06:45:39Z</dcterms:modified>
</cp:coreProperties>
</file>